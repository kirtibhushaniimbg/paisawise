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502920"/>
            <a:ext cx="1828800" cy="1828800"/>
          </a:xfrm>
          <a:prstGeom prst="ellipse">
            <a:avLst/>
          </a:prstGeom>
          <a:solidFill>
            <a:srgbClr val="161C4D"/>
          </a:solidFill>
          <a:ln w="19050">
            <a:solidFill>
              <a:srgbClr val="3A4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58968" y="777240"/>
            <a:ext cx="1280160" cy="1280160"/>
          </a:xfrm>
          <a:prstGeom prst="ellipse">
            <a:avLst/>
          </a:prstGeom>
          <a:solidFill>
            <a:srgbClr val="2A337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0972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51460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0" y="2816352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PaisaWise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Finance Coach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984248" y="4297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smarter way for salaried professionals to see their spending, build savings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discipline, and invest with confidence — powered by AI, personalized, and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real human financial guidance.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323948" y="544068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161C4D"/>
          </a:solidFill>
          <a:ln w="12700">
            <a:solidFill>
              <a:srgbClr val="3A448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116" y="55961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54300" y="54406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929988" y="544068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161C4D"/>
          </a:solidFill>
          <a:ln w="12700">
            <a:solidFill>
              <a:srgbClr val="3A448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156" y="559612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60340" y="54406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536028" y="544068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161C4D"/>
          </a:solidFill>
          <a:ln w="12700">
            <a:solidFill>
              <a:srgbClr val="3A4488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7196" y="559612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66380" y="54406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Human-Backed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0" y="644652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3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Pitch Deck  •  Digital Finance Coaching Platform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PITCHER 1  · 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earn well. But do you know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your money goes?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customer: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Salaried professionals, 25–35 years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161C4D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834640"/>
            <a:ext cx="502920" cy="502920"/>
          </a:xfrm>
          <a:prstGeom prst="ellipse">
            <a:avLst/>
          </a:prstGeom>
          <a:solidFill>
            <a:srgbClr val="3A4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962656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447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spending visibility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37764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multiple bank accounts &amp; UPI apps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34840" y="26060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161C4D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2834640"/>
            <a:ext cx="502920" cy="502920"/>
          </a:xfrm>
          <a:prstGeom prst="ellipse">
            <a:avLst/>
          </a:prstGeom>
          <a:solidFill>
            <a:srgbClr val="3A4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96265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447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to save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663440" y="37764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regularly but budgeting stays a challenge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321040" y="26060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161C4D"/>
          </a:solidFill>
          <a:ln/>
        </p:spPr>
      </p:sp>
      <p:sp>
        <p:nvSpPr>
          <p:cNvPr id="16" name="Shape 12"/>
          <p:cNvSpPr/>
          <p:nvPr/>
        </p:nvSpPr>
        <p:spPr>
          <a:xfrm>
            <a:off x="8549640" y="2834640"/>
            <a:ext cx="502920" cy="502920"/>
          </a:xfrm>
          <a:prstGeom prst="ellipse">
            <a:avLst/>
          </a:prstGeom>
          <a:solidFill>
            <a:srgbClr val="3A44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56" y="2962656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3447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investing confidence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549640" y="37764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about SIPs/mutual funds, unsure how to start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4348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161C4D"/>
          </a:solidFill>
          <a:ln/>
        </p:spPr>
      </p:sp>
      <p:sp>
        <p:nvSpPr>
          <p:cNvPr id="21" name="Shape 16"/>
          <p:cNvSpPr/>
          <p:nvPr/>
        </p:nvSpPr>
        <p:spPr>
          <a:xfrm>
            <a:off x="777240" y="4663440"/>
            <a:ext cx="502920" cy="502920"/>
          </a:xfrm>
          <a:prstGeom prst="ellipse">
            <a:avLst/>
          </a:prstGeom>
          <a:solidFill>
            <a:srgbClr val="3A448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791456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52760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77240" y="56052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account for individual spending habits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434840" y="44348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161C4D"/>
          </a:solidFill>
          <a:ln/>
        </p:spPr>
      </p:sp>
      <p:sp>
        <p:nvSpPr>
          <p:cNvPr id="26" name="Shape 20"/>
          <p:cNvSpPr/>
          <p:nvPr/>
        </p:nvSpPr>
        <p:spPr>
          <a:xfrm>
            <a:off x="4663440" y="4663440"/>
            <a:ext cx="502920" cy="502920"/>
          </a:xfrm>
          <a:prstGeom prst="ellipse">
            <a:avLst/>
          </a:prstGeom>
          <a:solidFill>
            <a:srgbClr val="3A448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791456"/>
            <a:ext cx="246888" cy="2468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63440" y="52760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to plan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663440" y="56052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financial planning keeps getting deferred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321040" y="44348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161C4D"/>
          </a:solidFill>
          <a:ln/>
        </p:spPr>
      </p:sp>
      <p:sp>
        <p:nvSpPr>
          <p:cNvPr id="31" name="Shape 24"/>
          <p:cNvSpPr/>
          <p:nvPr/>
        </p:nvSpPr>
        <p:spPr>
          <a:xfrm>
            <a:off x="8549640" y="4663440"/>
            <a:ext cx="502920" cy="502920"/>
          </a:xfrm>
          <a:prstGeom prst="ellipse">
            <a:avLst/>
          </a:prstGeom>
          <a:solidFill>
            <a:srgbClr val="3A448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7656" y="4791456"/>
            <a:ext cx="246888" cy="2468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549640" y="52760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Overspending, too late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549640" y="56052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Noticed only after the money is already spent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548640" y="617220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D9A441"/>
          </a:solidFill>
          <a:ln/>
        </p:spPr>
      </p:sp>
      <p:sp>
        <p:nvSpPr>
          <p:cNvPr id="36" name="Text 28"/>
          <p:cNvSpPr/>
          <p:nvPr/>
        </p:nvSpPr>
        <p:spPr>
          <a:xfrm>
            <a:off x="548640" y="61722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61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problem isn’t earning money. It’s knowing what to do with it.”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PITCHER 2  ·  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PaisaWise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  +  Personalization  +  Human financial guidance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PaisaWise connects your financial life in one place and turns your spending data into actionable advice.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4871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59689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4505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9808" y="303580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bank accounts + UPI spending, all in one view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34840" y="22860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36008" y="24871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59689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24505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budgeting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636008" y="303580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your actual spending behaviour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321040" y="22860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22208" y="24871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59689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98280" y="24505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savings goals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522208" y="303580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monthly targets tailored to you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" y="38404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9808" y="404164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151376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40050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49808" y="459028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about overspending as it happens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434840" y="38404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36008" y="404164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4151376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12080" y="40050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/ MF nudges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636008" y="459028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to your risk profile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8321040" y="38404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522208" y="404164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36" y="4151376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098280" y="40050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Advisor, monthly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8522208" y="459028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One-on-one call with a certified financial advisor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548640" y="598932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37" name="Text 29"/>
          <p:cNvSpPr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USP   </a:t>
            </a:r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“AI intelligence + Personalization + Human financial expertise.”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PITCHER 3  ·  WHY PAISAWISE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tracking money → to improving financial decisions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545836" cy="457200"/>
          </a:xfrm>
          <a:prstGeom prst="rect">
            <a:avLst/>
          </a:prstGeom>
          <a:solidFill>
            <a:srgbClr val="E4E9F5"/>
          </a:solidFill>
          <a:ln/>
        </p:spPr>
      </p:sp>
      <p:sp>
        <p:nvSpPr>
          <p:cNvPr id="5" name="Shape 3"/>
          <p:cNvSpPr/>
          <p:nvPr/>
        </p:nvSpPr>
        <p:spPr>
          <a:xfrm>
            <a:off x="6094476" y="1508760"/>
            <a:ext cx="5545836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5545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Tracking Apps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4476" y="1508760"/>
            <a:ext cx="5545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PaisaWise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54583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3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4476" y="1965960"/>
            <a:ext cx="5545836" cy="384048"/>
          </a:xfrm>
          <a:prstGeom prst="rect">
            <a:avLst/>
          </a:prstGeom>
          <a:solidFill>
            <a:srgbClr val="F1F5FF"/>
          </a:solidFill>
          <a:ln w="6350">
            <a:solidFill>
              <a:srgbClr val="DEE3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965960"/>
            <a:ext cx="5180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where money went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23076" y="1965960"/>
            <a:ext cx="5180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what to do next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350008"/>
            <a:ext cx="5545836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EE3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4476" y="2350008"/>
            <a:ext cx="5545836" cy="384048"/>
          </a:xfrm>
          <a:prstGeom prst="rect">
            <a:avLst/>
          </a:prstGeom>
          <a:solidFill>
            <a:srgbClr val="F1F5FF"/>
          </a:solidFill>
          <a:ln w="6350">
            <a:solidFill>
              <a:srgbClr val="DEE3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350008"/>
            <a:ext cx="5180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insights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23076" y="2350008"/>
            <a:ext cx="5180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734056"/>
            <a:ext cx="554583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3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4476" y="2734056"/>
            <a:ext cx="5545836" cy="384048"/>
          </a:xfrm>
          <a:prstGeom prst="rect">
            <a:avLst/>
          </a:prstGeom>
          <a:solidFill>
            <a:srgbClr val="F1F5FF"/>
          </a:solidFill>
          <a:ln w="6350">
            <a:solidFill>
              <a:srgbClr val="DEE3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734056"/>
            <a:ext cx="5180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coaching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23076" y="2734056"/>
            <a:ext cx="5180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advisor interaction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118104"/>
            <a:ext cx="5545836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EE3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4476" y="3118104"/>
            <a:ext cx="5545836" cy="384048"/>
          </a:xfrm>
          <a:prstGeom prst="rect">
            <a:avLst/>
          </a:prstGeom>
          <a:solidFill>
            <a:srgbClr val="F1F5FF"/>
          </a:solidFill>
          <a:ln w="6350">
            <a:solidFill>
              <a:srgbClr val="DEE3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118104"/>
            <a:ext cx="5180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expense tracking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23076" y="3118104"/>
            <a:ext cx="5180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budgeting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502152"/>
            <a:ext cx="554583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3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94476" y="3502152"/>
            <a:ext cx="5545836" cy="384048"/>
          </a:xfrm>
          <a:prstGeom prst="rect">
            <a:avLst/>
          </a:prstGeom>
          <a:solidFill>
            <a:srgbClr val="F1F5FF"/>
          </a:solidFill>
          <a:ln w="6350">
            <a:solidFill>
              <a:srgbClr val="DEE3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502152"/>
            <a:ext cx="5180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proactive alerts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23076" y="3502152"/>
            <a:ext cx="5180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overspending alerts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886200"/>
            <a:ext cx="5545836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EE3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94476" y="3886200"/>
            <a:ext cx="5545836" cy="384048"/>
          </a:xfrm>
          <a:prstGeom prst="rect">
            <a:avLst/>
          </a:prstGeom>
          <a:solidFill>
            <a:srgbClr val="F1F5FF"/>
          </a:solidFill>
          <a:ln w="6350">
            <a:solidFill>
              <a:srgbClr val="DEE3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886200"/>
            <a:ext cx="5180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investment guidance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323076" y="3886200"/>
            <a:ext cx="5180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SIP/MF nudges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4590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BENEFITS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937760"/>
            <a:ext cx="1057961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937760"/>
            <a:ext cx="10579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more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771193" y="4937760"/>
            <a:ext cx="139811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1771193" y="4937760"/>
            <a:ext cx="13981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smarter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333902" y="4937760"/>
            <a:ext cx="1823314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3333902" y="4937760"/>
            <a:ext cx="18233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confidently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21808" y="4937760"/>
            <a:ext cx="2078431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5321808" y="4937760"/>
            <a:ext cx="20784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financial stress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564831" y="4937760"/>
            <a:ext cx="1057961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7564831" y="4937760"/>
            <a:ext cx="10579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time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787384" y="4937760"/>
            <a:ext cx="1653235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4" name="Text 42"/>
          <p:cNvSpPr/>
          <p:nvPr/>
        </p:nvSpPr>
        <p:spPr>
          <a:xfrm>
            <a:off x="8787384" y="4937760"/>
            <a:ext cx="16532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discipline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617220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D9A441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61722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61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“Don’t just track your money. Let your money work smarter for you.”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 ·  GO-TO-MARKET &amp; 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sell to &amp; how we convert them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161C4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09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CUSTOMER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30552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25–35, salaried with stable income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to upper-middle income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bank + UPI transactions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 save/invest, lacks guidance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clear financial pain point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to pay for professional support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1508760"/>
            <a:ext cx="5696712" cy="3246120"/>
          </a:xfrm>
          <a:prstGeom prst="roundRect">
            <a:avLst>
              <a:gd name="adj" fmla="val 2254"/>
            </a:avLst>
          </a:prstGeom>
          <a:solidFill>
            <a:srgbClr val="161C4D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1709928"/>
            <a:ext cx="5148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PROSPECTING SOURCES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167128"/>
            <a:ext cx="384048" cy="384048"/>
          </a:xfrm>
          <a:prstGeom prst="ellipse">
            <a:avLst/>
          </a:prstGeom>
          <a:solidFill>
            <a:srgbClr val="3A448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258568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48272" y="2167128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relationship managers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17920" y="2679192"/>
            <a:ext cx="384048" cy="384048"/>
          </a:xfrm>
          <a:prstGeom prst="ellipse">
            <a:avLst/>
          </a:prstGeom>
          <a:solidFill>
            <a:srgbClr val="3A448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770632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48272" y="2679192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/ corporate partnerships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17920" y="3191256"/>
            <a:ext cx="384048" cy="384048"/>
          </a:xfrm>
          <a:prstGeom prst="ellipse">
            <a:avLst/>
          </a:prstGeom>
          <a:solidFill>
            <a:srgbClr val="3A4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282696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48272" y="3191256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branch visitors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217920" y="3703320"/>
            <a:ext cx="384048" cy="384048"/>
          </a:xfrm>
          <a:prstGeom prst="ellipse">
            <a:avLst/>
          </a:prstGeom>
          <a:solidFill>
            <a:srgbClr val="3A448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794760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48272" y="3703320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&amp; digital campaigns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217920" y="4215384"/>
            <a:ext cx="384048" cy="384048"/>
          </a:xfrm>
          <a:prstGeom prst="ellipse">
            <a:avLst/>
          </a:prstGeom>
          <a:solidFill>
            <a:srgbClr val="3A448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306824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48272" y="4215384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referrals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548640" y="50292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D9A441"/>
          </a:solidFill>
          <a:ln/>
        </p:spPr>
      </p:sp>
      <p:sp>
        <p:nvSpPr>
          <p:cNvPr id="25" name="Text 18"/>
          <p:cNvSpPr/>
          <p:nvPr/>
        </p:nvSpPr>
        <p:spPr>
          <a:xfrm>
            <a:off x="868680" y="502920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₹499</a:t>
            </a:r>
            <a:pPr indent="0" marL="0">
              <a:buNone/>
            </a:pPr>
            <a:r>
              <a:rPr lang="en-US" sz="1400" dirty="0">
                <a:solidFill>
                  <a:srgbClr val="161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  </a:t>
            </a:r>
            <a:pPr indent="0" marL="0">
              <a:buNone/>
            </a:pPr>
            <a:r>
              <a:rPr lang="en-US" sz="2200" b="1" dirty="0">
                <a:solidFill>
                  <a:srgbClr val="161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₹4,999</a:t>
            </a:r>
            <a:pPr indent="0" marL="0">
              <a:buNone/>
            </a:pPr>
            <a:r>
              <a:rPr lang="en-US" sz="1400" dirty="0">
                <a:solidFill>
                  <a:srgbClr val="161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/year</a:t>
            </a:r>
            <a:endParaRPr lang="en-US" sz="3000" dirty="0"/>
          </a:p>
        </p:txBody>
      </p:sp>
      <p:sp>
        <p:nvSpPr>
          <p:cNvPr id="26" name="Text 19"/>
          <p:cNvSpPr/>
          <p:nvPr/>
        </p:nvSpPr>
        <p:spPr>
          <a:xfrm>
            <a:off x="868680" y="56509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1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₹999 onboarding fee waived for bank customers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6217920" y="5166360"/>
            <a:ext cx="0" cy="685800"/>
          </a:xfrm>
          <a:prstGeom prst="line">
            <a:avLst/>
          </a:prstGeom>
          <a:noFill/>
          <a:ln w="12700">
            <a:solidFill>
              <a:srgbClr val="161C4D"/>
            </a:solidFill>
            <a:prstDash val="dash"/>
          </a:ln>
        </p:spPr>
      </p:sp>
      <p:sp>
        <p:nvSpPr>
          <p:cNvPr id="28" name="Text 21"/>
          <p:cNvSpPr/>
          <p:nvPr/>
        </p:nvSpPr>
        <p:spPr>
          <a:xfrm>
            <a:off x="6492240" y="50292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61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“Your salary deserves a smarter plan. Let PaisaWise turn your everyday spending into a better financial future.”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48640" y="62179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apps track your money.   PaisaWise coaches your money.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2026-08-12T00:54:32Z</dcterms:created>
  <dcterms:modified xsi:type="dcterms:W3CDTF">2026-08-12T00:54:32Z</dcterms:modified>
</cp:coreProperties>
</file>