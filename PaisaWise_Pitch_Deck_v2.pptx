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PITCHER 1  ·  target 0:00–0:22  (22s)</a:t>
            </a:r>
          </a:p>
          <a:p/>
          <a:p>
            <a:r>
              <a:t>Good morning. One question before I start. You earn well. So where did your money</a:t>
            </a:r>
          </a:p>
          <a:p>
            <a:r>
              <a:t>go last month? Most salaried professionals cannot. That is the</a:t>
            </a:r>
          </a:p>
          <a:p>
            <a:r>
              <a:t>gap we built PaisaWise to close. Over the next five minutes, the three of us will</a:t>
            </a:r>
          </a:p>
          <a:p>
            <a:r>
              <a:t>show you the problem, the product, and what it's worth to you.</a:t>
            </a:r>
          </a:p>
          <a:p/>
          <a:p>
            <a:r>
              <a:t>[CUE] Advance on "the problem".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PITCHER 1  ·  target 0:22–1:40  (78s)   ·   cumulative 1:40</a:t>
            </a:r>
          </a:p>
          <a:p/>
          <a:p>
            <a:r>
              <a:t>Let me describe our customer, because you will recognise him. He's 25 to 35, salaried,</a:t>
            </a:r>
          </a:p>
          <a:p>
            <a:r>
              <a:t>middle to upper-middle income. He came to us the way most of our customers do. His</a:t>
            </a:r>
          </a:p>
          <a:p>
            <a:r>
              <a:t>bank relationship manager introduced us after a routine branch visit.</a:t>
            </a:r>
          </a:p>
          <a:p/>
          <a:p>
            <a:r>
              <a:t>He earns well. But his money is scattered across three or four bank accounts and a</a:t>
            </a:r>
          </a:p>
          <a:p>
            <a:r>
              <a:t>couple of UPI apps. So at the end of the month, when he asks "where did it all go?",</a:t>
            </a:r>
          </a:p>
          <a:p>
            <a:r>
              <a:t>there is no single place that answers him. That is problem one: poor visibility.</a:t>
            </a:r>
          </a:p>
          <a:p/>
          <a:p>
            <a:r>
              <a:t>Problem two. When he does go looking for help, he gets generic advice. Free tracking</a:t>
            </a:r>
          </a:p>
          <a:p>
            <a:r>
              <a:t>apps give the same five tips to five million people. None of it knows that he spends</a:t>
            </a:r>
          </a:p>
          <a:p>
            <a:r>
              <a:t>heavily in the first ten days, or that his rent went up last quarter.</a:t>
            </a:r>
          </a:p>
          <a:p/>
          <a:p>
            <a:r>
              <a:t>Everything else follows from those two. He struggles to save. He knows about SIPs but</a:t>
            </a:r>
          </a:p>
          <a:p>
            <a:r>
              <a:t>has never started one. He keeps deferring the planning. And he finds out he has</a:t>
            </a:r>
          </a:p>
          <a:p>
            <a:r>
              <a:t>overspent only after the money is gone.</a:t>
            </a:r>
          </a:p>
          <a:p/>
          <a:p>
            <a:r>
              <a:t>On most first calls what we actually hear is this: I know I should be investing, I</a:t>
            </a:r>
          </a:p>
          <a:p>
            <a:r>
              <a:t>just don't know where to start.</a:t>
            </a:r>
          </a:p>
          <a:p/>
          <a:p>
            <a:r>
              <a:t>[HAND-OFF] "That is what PaisaWise fixes. Over to you, &lt;NAME 2&gt;."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PITCHER 2  ·  target 1:40–3:19  (99s)   ·   cumulative 3:19</a:t>
            </a:r>
          </a:p>
          <a:p/>
          <a:p>
            <a:r>
              <a:t>Thanks. Here is what PaisaWise actually does.</a:t>
            </a:r>
          </a:p>
          <a:p/>
          <a:p>
            <a:r>
              <a:t>First, one dashboard. We securely sync every linked bank account and UPI app, so all</a:t>
            </a:r>
          </a:p>
          <a:p>
            <a:r>
              <a:t>his spending finally sits in a single view. That alone solves the visibility problem.</a:t>
            </a:r>
          </a:p>
          <a:p/>
          <a:p>
            <a:r>
              <a:t>Second, AI-driven budgeting. This is the important part. The budget is not a template.</a:t>
            </a:r>
          </a:p>
          <a:p>
            <a:r>
              <a:t>It is built from his own spending history, so it knows his patterns.</a:t>
            </a:r>
          </a:p>
          <a:p/>
          <a:p>
            <a:r>
              <a:t>Third, personalized savings goals. Because we can see real cash flow, we set a monthly</a:t>
            </a:r>
          </a:p>
          <a:p>
            <a:r>
              <a:t>target he can actually hit, instead of an arbitrary number he abandons in week two.</a:t>
            </a:r>
          </a:p>
          <a:p/>
          <a:p>
            <a:r>
              <a:t>Fourth, overspending alerts. He hears about it the same day, while he can still do</a:t>
            </a:r>
          </a:p>
          <a:p>
            <a:r>
              <a:t>something about it, instead of reading a report at month end.</a:t>
            </a:r>
          </a:p>
          <a:p/>
          <a:p>
            <a:r>
              <a:t>Fifth, SIP and mutual fund nudges matched to his risk profile. He already knows he</a:t>
            </a:r>
          </a:p>
          <a:p>
            <a:r>
              <a:t>should invest. We tell him what, how much, and when.</a:t>
            </a:r>
          </a:p>
          <a:p/>
          <a:p>
            <a:r>
              <a:t>And sixth, the one no free app offers: a one-on-one virtual call every month with a</a:t>
            </a:r>
          </a:p>
          <a:p>
            <a:r>
              <a:t>certified financial advisor, going through his numbers with him.</a:t>
            </a:r>
          </a:p>
          <a:p/>
          <a:p>
            <a:r>
              <a:t>That is our USP in one line: AI, plus personalization, plus a human financial advisor.</a:t>
            </a:r>
          </a:p>
          <a:p>
            <a:r>
              <a:t>The technology finds the insight. The advisor makes sure he acts on it.</a:t>
            </a:r>
          </a:p>
          <a:p/>
          <a:p>
            <a:r>
              <a:t>[HAND-OFF] "So why us and not a free app? &lt;NAME 3&gt; will take that."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PITCHER 3  ·  target 3:19–4:15  (56s)   ·   cumulative 4:15</a:t>
            </a:r>
          </a:p>
          <a:p/>
          <a:p>
            <a:r>
              <a:t>Thanks. Now the obvious objection: there are free apps that do some of this. Let's be</a:t>
            </a:r>
          </a:p>
          <a:p>
            <a:r>
              <a:t>precise about what free actually buys you.</a:t>
            </a:r>
          </a:p>
          <a:p/>
          <a:p>
            <a:r>
              <a:t>A free app shows you where your money went. PaisaWise tells you what to do next. Free</a:t>
            </a:r>
          </a:p>
          <a:p>
            <a:r>
              <a:t>gives you generic insights; we personalize to your spending. Free has no live coaching;</a:t>
            </a:r>
          </a:p>
          <a:p>
            <a:r>
              <a:t>you get a certified advisor every month. Free has no proactive alerts; we tell you the</a:t>
            </a:r>
          </a:p>
          <a:p>
            <a:r>
              <a:t>same day. And SIP nudges matched to your risk profile.</a:t>
            </a:r>
          </a:p>
          <a:p/>
          <a:p>
            <a:r>
              <a:t>Now the math. To be clear, this is an illustration, not a promise. PaisaWise costs 499</a:t>
            </a:r>
          </a:p>
          <a:p>
            <a:r>
              <a:t>rupees a month, about sixteen rupees a day. If we help you save five percent of a</a:t>
            </a:r>
          </a:p>
          <a:p>
            <a:r>
              <a:t>sixty-thousand-rupee salary, that is three thousand rupees a month. Six times what you</a:t>
            </a:r>
          </a:p>
          <a:p>
            <a:r>
              <a:t>paid us.</a:t>
            </a:r>
          </a:p>
          <a:p/>
          <a:p>
            <a:r>
              <a:t>One more thing worth saying out loud: free apps are ad-supported. They make money when</a:t>
            </a:r>
          </a:p>
          <a:p>
            <a:r>
              <a:t>you scroll. We only make money when you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PITCHER 3  ·  target 4:15–5:00  (45s)   ·   cumulative 5:00   ·   TOTAL 300s</a:t>
            </a:r>
          </a:p>
          <a:p/>
          <a:p>
            <a:r>
              <a:t>So who is the ideal lead? Someone with a stable income and plenty of bank and UPI</a:t>
            </a:r>
          </a:p>
          <a:p>
            <a:r>
              <a:t>activity, who genuinely wants to save or invest, but has nobody personalising the</a:t>
            </a:r>
          </a:p>
          <a:p>
            <a:r>
              <a:t>advice for him.</a:t>
            </a:r>
          </a:p>
          <a:p/>
          <a:p>
            <a:r>
              <a:t>We reach them through bank relationship managers and corporate partnerships, branch</a:t>
            </a:r>
          </a:p>
          <a:p>
            <a:r>
              <a:t>walk-ins, LinkedIn, and referrals from customers we have already helped.</a:t>
            </a:r>
          </a:p>
          <a:p/>
          <a:p>
            <a:r>
              <a:t>Pricing is 499 rupees a month, or 4,999 a year. About sixteen rupees a day.</a:t>
            </a:r>
          </a:p>
          <a:p/>
          <a:p>
            <a:r>
              <a:t>And here is my ask. You came in through your relationship manager, so the 999-rupee</a:t>
            </a:r>
          </a:p>
          <a:p>
            <a:r>
              <a:t>onboarding fee is waived. Shall we book your first advisor call this week?</a:t>
            </a:r>
          </a:p>
          <a:p/>
          <a:p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r>
              <a:t>OBJECTION HANDLING  (Q&amp;A prep, do not read aloud)</a:t>
            </a:r>
          </a:p>
          <a:p/>
          <a:p>
            <a:r>
              <a:t>"Why pay when free apps exist?"</a:t>
            </a:r>
          </a:p>
          <a:p>
            <a:r>
              <a:t>   They are ad-supported, generic, and have no live coaching. We are the only option</a:t>
            </a:r>
          </a:p>
          <a:p>
            <a:r>
              <a:t>   here that puts a certified advisor on a call with you every month.</a:t>
            </a:r>
          </a:p>
          <a:p/>
          <a:p>
            <a:r>
              <a:t>"Is my bank data safe?"</a:t>
            </a:r>
          </a:p>
          <a:p>
            <a:r>
              <a:t>   Read-only sync, bank-grade encryption, no transaction authority. We can see the</a:t>
            </a:r>
          </a:p>
          <a:p>
            <a:r>
              <a:t>   data; we can never move your money.</a:t>
            </a:r>
          </a:p>
          <a:p/>
          <a:p>
            <a:r>
              <a:t>"What if I don't end up using it?"</a:t>
            </a:r>
          </a:p>
          <a:p>
            <a:r>
              <a:t>   It is a monthly plan, so there is no lock-in. And the advisor call is a scheduled</a:t>
            </a:r>
          </a:p>
          <a:p>
            <a:r>
              <a:t>   appointment, not an app you forget to open.</a:t>
            </a:r>
          </a:p>
          <a:p/>
          <a:p>
            <a:r>
              <a:t>"4,999 upfront is a lot."</a:t>
            </a:r>
          </a:p>
          <a:p>
            <a:r>
              <a:t>   That is exactly why the 499 monthly plan exists. The annual plan is for people who</a:t>
            </a:r>
          </a:p>
          <a:p>
            <a:r>
              <a:t>   want the roughly 1,000-rupee saving.</a:t>
            </a:r>
          </a:p>
          <a:p/>
          <a:p>
            <a:r>
              <a:t>"I already have a CA / advisor."</a:t>
            </a:r>
          </a:p>
          <a:p>
            <a:r>
              <a:t>   They file and plan once a year. We handle the other 364 days: the daily spending,</a:t>
            </a:r>
          </a:p>
          <a:p>
            <a:r>
              <a:t>   the alerts, the monthly course-correction.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2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371600"/>
            <a:ext cx="3840480" cy="3840480"/>
          </a:xfrm>
          <a:prstGeom prst="ellipse">
            <a:avLst/>
          </a:prstGeom>
          <a:solidFill>
            <a:srgbClr val="24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isawise-logo-horizontal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762" y="658368"/>
            <a:ext cx="3620171" cy="841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048256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tos"/>
              </a:rPr>
              <a:t>You earn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33472"/>
            <a:ext cx="1219169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ptos"/>
              </a:rPr>
              <a:t>So where does it </a:t>
            </a:r>
            <a:r>
              <a:rPr sz="3800" b="1" i="0">
                <a:solidFill>
                  <a:srgbClr val="9B85FF"/>
                </a:solidFill>
                <a:latin typeface="Aptos"/>
              </a:rPr>
              <a:t>all 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602736"/>
            <a:ext cx="77998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50" b="0" i="0">
                <a:solidFill>
                  <a:srgbClr val="C9C3E4"/>
                </a:solidFill>
                <a:latin typeface="Aptos"/>
              </a:rPr>
              <a:t>An AI budgeting app with a certified financial advisor attached. Built for salaried professionals who earn well and still can't answer that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6495" y="4626864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41F3D"/>
          </a:solidFill>
          <a:ln w="12700">
            <a:solidFill>
              <a:srgbClr val="3A3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6495" y="462686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C3E4"/>
                </a:solidFill>
                <a:latin typeface="Aptos"/>
              </a:rPr>
              <a:t>Syncs your banks + UPI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1407" y="4626864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41F3D"/>
          </a:solidFill>
          <a:ln w="12700">
            <a:solidFill>
              <a:srgbClr val="3A3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1407" y="462686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C3E4"/>
                </a:solidFill>
                <a:latin typeface="Aptos"/>
              </a:rPr>
              <a:t>Certified advisor monthly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6319" y="4626864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41F3D"/>
          </a:solidFill>
          <a:ln w="12700">
            <a:solidFill>
              <a:srgbClr val="3A3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6319" y="462686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C3E4"/>
                </a:solidFill>
                <a:latin typeface="Aptos"/>
              </a:rPr>
              <a:t>₹499 a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607" y="5541264"/>
            <a:ext cx="3840480" cy="20116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5815584"/>
            <a:ext cx="121916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spc="80">
                <a:solidFill>
                  <a:srgbClr val="9B85FF"/>
                </a:solidFill>
                <a:latin typeface="Aptos"/>
              </a:rPr>
              <a:t>PITCHER 1 </a:t>
            </a:r>
            <a:r>
              <a:rPr sz="1050" b="0" i="0">
                <a:solidFill>
                  <a:srgbClr val="9A94B8"/>
                </a:solidFill>
                <a:latin typeface="Aptos"/>
              </a:rPr>
              <a:t>The Problem</a:t>
            </a:r>
            <a:r>
              <a:rPr sz="1050" b="1" i="0">
                <a:solidFill>
                  <a:srgbClr val="3A3163"/>
                </a:solidFill>
                <a:latin typeface="Aptos"/>
              </a:rPr>
              <a:t>     •     </a:t>
            </a:r>
            <a:r>
              <a:rPr sz="1050" b="1" i="0" spc="80">
                <a:solidFill>
                  <a:srgbClr val="9B85FF"/>
                </a:solidFill>
                <a:latin typeface="Aptos"/>
              </a:rPr>
              <a:t>PITCHER 2 </a:t>
            </a:r>
            <a:r>
              <a:rPr sz="1050" b="0" i="0">
                <a:solidFill>
                  <a:srgbClr val="9A94B8"/>
                </a:solidFill>
                <a:latin typeface="Aptos"/>
              </a:rPr>
              <a:t>The Solution</a:t>
            </a:r>
            <a:r>
              <a:rPr sz="1050" b="1" i="0">
                <a:solidFill>
                  <a:srgbClr val="3A3163"/>
                </a:solidFill>
                <a:latin typeface="Aptos"/>
              </a:rPr>
              <a:t>     •     </a:t>
            </a:r>
            <a:r>
              <a:rPr sz="1050" b="1" i="0" spc="80">
                <a:solidFill>
                  <a:srgbClr val="9B85FF"/>
                </a:solidFill>
                <a:latin typeface="Aptos"/>
              </a:rPr>
              <a:t>PITCHER 3 </a:t>
            </a:r>
            <a:r>
              <a:rPr sz="1050" b="0" i="0">
                <a:solidFill>
                  <a:srgbClr val="9A94B8"/>
                </a:solidFill>
                <a:latin typeface="Aptos"/>
              </a:rPr>
              <a:t>Why PaisaWise &amp; The 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60">
                <a:solidFill>
                  <a:srgbClr val="6C4CF1"/>
                </a:solidFill>
                <a:latin typeface="Aptos"/>
              </a:rPr>
              <a:t>PITCHER 1  ·  THE PROBLEM</a:t>
            </a:r>
          </a:p>
        </p:txBody>
      </p:sp>
      <p:pic>
        <p:nvPicPr>
          <p:cNvPr id="4" name="Picture 3" descr="paisawi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431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31520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1526"/>
                </a:solidFill>
                <a:latin typeface="Aptos"/>
              </a:rPr>
              <a:t>Two problems. Everything else follows from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5474"/>
                </a:solidFill>
                <a:latin typeface="Aptos"/>
              </a:rPr>
              <a:t>Salaried professional, 25 to 35, introduced by his bank relationship manager after a branch visit.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3703320" cy="3273552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-6C4C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212598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6464" y="201168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140">
                <a:solidFill>
                  <a:srgbClr val="6C4CF1"/>
                </a:solidFill>
                <a:latin typeface="Aptos"/>
              </a:rPr>
              <a:t>THE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51760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Age 25–35, salaried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81528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Middle to upper-middle 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11296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Regular bank + UPI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41063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Earns well, struggles to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70831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Knows SIPs, lacks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755648"/>
            <a:ext cx="7114032" cy="155448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956816"/>
            <a:ext cx="50292" cy="115214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37176" y="1993391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ye-6C4C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2107691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0680" y="1993391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71526"/>
                </a:solidFill>
                <a:latin typeface="Aptos"/>
              </a:rPr>
              <a:t>Poor visibility of spending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2560320"/>
            <a:ext cx="647395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5474"/>
                </a:solidFill>
                <a:latin typeface="Aptos"/>
              </a:rPr>
              <a:t>His money moves across three or four bank accounts and a couple of UPI apps. Nothing adds it up for him.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474720"/>
            <a:ext cx="7114032" cy="155448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675887"/>
            <a:ext cx="50292" cy="115214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37176" y="3712463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t-6C4C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3826763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40680" y="3712463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71526"/>
                </a:solidFill>
                <a:latin typeface="Aptos"/>
              </a:rPr>
              <a:t>Generic financial advice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4279392"/>
            <a:ext cx="647395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A5474"/>
                </a:solidFill>
                <a:latin typeface="Aptos"/>
              </a:rPr>
              <a:t>Free apps give the same tips to everyone who installs them. None of it knows how he earns or where he overspends.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7550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20">
                <a:solidFill>
                  <a:srgbClr val="9A94B8"/>
                </a:solidFill>
                <a:latin typeface="Aptos"/>
              </a:rPr>
              <a:t>ALSO COMES 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68112"/>
            <a:ext cx="2615869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68112"/>
            <a:ext cx="261586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71526"/>
                </a:solidFill>
                <a:latin typeface="Aptos"/>
              </a:rPr>
              <a:t>Struggles to save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4821" y="5468112"/>
            <a:ext cx="2615869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4821" y="5468112"/>
            <a:ext cx="261586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71526"/>
                </a:solidFill>
                <a:latin typeface="Aptos"/>
              </a:rPr>
              <a:t>Low investing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1003" y="5468112"/>
            <a:ext cx="2615869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1003" y="5468112"/>
            <a:ext cx="261586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71526"/>
                </a:solidFill>
                <a:latin typeface="Aptos"/>
              </a:rPr>
              <a:t>No time to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27185" y="5468112"/>
            <a:ext cx="2615869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7185" y="5468112"/>
            <a:ext cx="261586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71526"/>
                </a:solidFill>
                <a:latin typeface="Aptos"/>
              </a:rPr>
              <a:t>Alerts arrive too late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053328"/>
            <a:ext cx="11094415" cy="566928"/>
          </a:xfrm>
          <a:prstGeom prst="roundRect">
            <a:avLst>
              <a:gd name="adj" fmla="val 38709"/>
            </a:avLst>
          </a:prstGeom>
          <a:solidFill>
            <a:srgbClr val="17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053328"/>
            <a:ext cx="10362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160">
                <a:solidFill>
                  <a:srgbClr val="9B85FF"/>
                </a:solidFill>
                <a:latin typeface="Aptos"/>
              </a:rPr>
              <a:t>WHAT WE HEAR ON THE FIRST CALL      </a:t>
            </a:r>
            <a:r>
              <a:rPr sz="1450" b="1" i="1">
                <a:solidFill>
                  <a:srgbClr val="FFFFFF"/>
                </a:solidFill>
                <a:latin typeface="Aptos"/>
              </a:rPr>
              <a:t>“I know I should be investing. I just don't know where to start.”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60">
                <a:solidFill>
                  <a:srgbClr val="6C4CF1"/>
                </a:solidFill>
                <a:latin typeface="Aptos"/>
              </a:rPr>
              <a:t>PITCHER 2  ·  THE SOLUTION</a:t>
            </a:r>
          </a:p>
        </p:txBody>
      </p:sp>
      <p:pic>
        <p:nvPicPr>
          <p:cNvPr id="4" name="Picture 3" descr="paisawi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431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132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1526"/>
                </a:solidFill>
                <a:latin typeface="Aptos"/>
              </a:rPr>
              <a:t>What he gets for ₹499 a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3545738" cy="166420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645920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d-6C4C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1" y="176022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645920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1526"/>
                </a:solidFill>
                <a:latin typeface="Aptos"/>
              </a:rPr>
              <a:t>One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49424"/>
            <a:ext cx="303367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5474"/>
                </a:solidFill>
                <a:latin typeface="Aptos"/>
              </a:rPr>
              <a:t>All his accounts and UPI apps in a single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389888"/>
            <a:ext cx="3545738" cy="166420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9010" y="1645920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ip-6C4C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310" y="176022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5938" y="1645920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1526"/>
                </a:solidFill>
                <a:latin typeface="Aptos"/>
              </a:rPr>
              <a:t>AI-driven budgeting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9010" y="2249424"/>
            <a:ext cx="303367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5474"/>
                </a:solidFill>
                <a:latin typeface="Aptos"/>
              </a:rPr>
              <a:t>A budget built from his own spending history, not a template.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389888"/>
            <a:ext cx="3545738" cy="166420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3348" y="1645920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-6C4C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648" y="1760220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20276" y="1645920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1526"/>
                </a:solidFill>
                <a:latin typeface="Aptos"/>
              </a:rPr>
              <a:t>Savings goals that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348" y="2249424"/>
            <a:ext cx="303367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5474"/>
                </a:solidFill>
                <a:latin typeface="Aptos"/>
              </a:rPr>
              <a:t>Monthly targets set from what he earns and spends.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00400"/>
            <a:ext cx="3545738" cy="166420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3456432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6C4C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1" y="3570732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3456432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1526"/>
                </a:solidFill>
                <a:latin typeface="Aptos"/>
              </a:rPr>
              <a:t>Overspending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059935"/>
            <a:ext cx="303367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5474"/>
                </a:solidFill>
                <a:latin typeface="Aptos"/>
              </a:rPr>
              <a:t>He hears about it the same day, not at month 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2978" y="3200400"/>
            <a:ext cx="3545738" cy="166420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9010" y="3456432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ie-6C4C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310" y="3570732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5938" y="3456432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1526"/>
                </a:solidFill>
                <a:latin typeface="Aptos"/>
              </a:rPr>
              <a:t>SIP and mutual fund nudges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9010" y="4059935"/>
            <a:ext cx="303367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5474"/>
                </a:solidFill>
                <a:latin typeface="Aptos"/>
              </a:rPr>
              <a:t>Matched to his risk profile.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7316" y="3200400"/>
            <a:ext cx="3545738" cy="1664208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53348" y="3456432"/>
            <a:ext cx="457200" cy="457200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dvisor-6C4CF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648" y="3570732"/>
            <a:ext cx="2286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920276" y="3456432"/>
            <a:ext cx="24941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1526"/>
                </a:solidFill>
                <a:latin typeface="Aptos"/>
              </a:rPr>
              <a:t>A certified advisor, monthly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3348" y="4059935"/>
            <a:ext cx="303367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5A5474"/>
                </a:solidFill>
                <a:latin typeface="Aptos"/>
              </a:rPr>
              <a:t>One-on-one video call to go through his numbers.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49824"/>
            <a:ext cx="11094415" cy="804672"/>
          </a:xfrm>
          <a:prstGeom prst="roundRect">
            <a:avLst>
              <a:gd name="adj" fmla="val 27272"/>
            </a:avLst>
          </a:prstGeom>
          <a:solidFill>
            <a:srgbClr val="17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49824"/>
            <a:ext cx="1036289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160">
                <a:solidFill>
                  <a:srgbClr val="9B85FF"/>
                </a:solidFill>
                <a:latin typeface="Aptos"/>
              </a:rPr>
              <a:t>OUR USP      </a:t>
            </a:r>
            <a:r>
              <a:rPr sz="1600" b="1" i="0">
                <a:solidFill>
                  <a:srgbClr val="FFFFFF"/>
                </a:solidFill>
                <a:latin typeface="Aptos"/>
              </a:rPr>
              <a:t>AI + personalization + a human financial advisor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60">
                <a:solidFill>
                  <a:srgbClr val="6C4CF1"/>
                </a:solidFill>
                <a:latin typeface="Aptos"/>
              </a:rPr>
              <a:t>PITCHER 3  ·  WHY PAISAWISE</a:t>
            </a:r>
          </a:p>
        </p:txBody>
      </p:sp>
      <p:pic>
        <p:nvPicPr>
          <p:cNvPr id="4" name="Picture 3" descr="paisawi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431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132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1526"/>
                </a:solidFill>
                <a:latin typeface="Aptos"/>
              </a:rPr>
              <a:t>Why not just use a free app?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5474"/>
                </a:solidFill>
                <a:latin typeface="Aptos"/>
              </a:rPr>
              <a:t>He already has one on his phone.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246120" cy="475488"/>
          </a:xfrm>
          <a:prstGeom prst="rect">
            <a:avLst/>
          </a:prstGeom>
          <a:solidFill>
            <a:srgbClr val="E6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59" y="1737360"/>
            <a:ext cx="3246120" cy="475488"/>
          </a:xfrm>
          <a:prstGeom prst="rect">
            <a:avLst/>
          </a:prstGeom>
          <a:solidFill>
            <a:srgbClr val="17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spc="120">
                <a:solidFill>
                  <a:srgbClr val="5A5474"/>
                </a:solidFill>
                <a:latin typeface="Aptos"/>
              </a:rPr>
              <a:t>FREE TRACKING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1737360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spc="120">
                <a:solidFill>
                  <a:srgbClr val="FFFFFF"/>
                </a:solidFill>
                <a:latin typeface="Aptos"/>
              </a:rPr>
              <a:t>PAISAWISE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12848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4759" y="2212848"/>
            <a:ext cx="3246120" cy="658368"/>
          </a:xfrm>
          <a:prstGeom prst="rect">
            <a:avLst/>
          </a:prstGeom>
          <a:solidFill>
            <a:srgbClr val="EFEA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oss-9A9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50591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2416" y="2212848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474"/>
                </a:solidFill>
                <a:latin typeface="Aptos"/>
              </a:rPr>
              <a:t>Shows where money went</a:t>
            </a:r>
          </a:p>
        </p:txBody>
      </p:sp>
      <p:pic>
        <p:nvPicPr>
          <p:cNvPr id="15" name="Picture 14" descr="check-12B9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7" y="2450591"/>
            <a:ext cx="182880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88536" y="2212848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1526"/>
                </a:solidFill>
                <a:latin typeface="Aptos"/>
              </a:rPr>
              <a:t>Tells you what to do next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71215"/>
            <a:ext cx="3246120" cy="658368"/>
          </a:xfrm>
          <a:prstGeom prst="rect">
            <a:avLst/>
          </a:prstGeom>
          <a:solidFill>
            <a:srgbClr val="FBFAFD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59" y="2871215"/>
            <a:ext cx="3246120" cy="658368"/>
          </a:xfrm>
          <a:prstGeom prst="rect">
            <a:avLst/>
          </a:prstGeom>
          <a:solidFill>
            <a:srgbClr val="F5F2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ross-9A9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08959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2416" y="2871215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474"/>
                </a:solidFill>
                <a:latin typeface="Aptos"/>
              </a:rPr>
              <a:t>Generic insights</a:t>
            </a:r>
          </a:p>
        </p:txBody>
      </p:sp>
      <p:pic>
        <p:nvPicPr>
          <p:cNvPr id="21" name="Picture 20" descr="check-12B9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7" y="3108959"/>
            <a:ext cx="182880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88536" y="2871215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1526"/>
                </a:solidFill>
                <a:latin typeface="Aptos"/>
              </a:rPr>
              <a:t>Personalized to your spending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9584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94759" y="3529584"/>
            <a:ext cx="3246120" cy="658368"/>
          </a:xfrm>
          <a:prstGeom prst="rect">
            <a:avLst/>
          </a:prstGeom>
          <a:solidFill>
            <a:srgbClr val="EFEA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ross-9A9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67328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42416" y="3529584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474"/>
                </a:solidFill>
                <a:latin typeface="Aptos"/>
              </a:rPr>
              <a:t>No live coaching</a:t>
            </a:r>
          </a:p>
        </p:txBody>
      </p:sp>
      <p:pic>
        <p:nvPicPr>
          <p:cNvPr id="27" name="Picture 26" descr="check-12B9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7" y="3767328"/>
            <a:ext cx="18288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88536" y="3529584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1526"/>
                </a:solidFill>
                <a:latin typeface="Aptos"/>
              </a:rPr>
              <a:t>Monthly 1-on-1 advisor 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87952"/>
            <a:ext cx="3246120" cy="658368"/>
          </a:xfrm>
          <a:prstGeom prst="rect">
            <a:avLst/>
          </a:prstGeom>
          <a:solidFill>
            <a:srgbClr val="FBFAFD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59" y="4187952"/>
            <a:ext cx="3246120" cy="658368"/>
          </a:xfrm>
          <a:prstGeom prst="rect">
            <a:avLst/>
          </a:prstGeom>
          <a:solidFill>
            <a:srgbClr val="F5F2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ross-9A9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425696"/>
            <a:ext cx="182880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42416" y="4187952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474"/>
                </a:solidFill>
                <a:latin typeface="Aptos"/>
              </a:rPr>
              <a:t>No proactive alerts</a:t>
            </a:r>
          </a:p>
        </p:txBody>
      </p:sp>
      <p:pic>
        <p:nvPicPr>
          <p:cNvPr id="33" name="Picture 32" descr="check-12B9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7" y="4425696"/>
            <a:ext cx="182880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88536" y="4187952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1526"/>
                </a:solidFill>
                <a:latin typeface="Aptos"/>
              </a:rPr>
              <a:t>Real-time overspending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46320"/>
            <a:ext cx="3246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94759" y="4846320"/>
            <a:ext cx="3246120" cy="658368"/>
          </a:xfrm>
          <a:prstGeom prst="rect">
            <a:avLst/>
          </a:prstGeom>
          <a:solidFill>
            <a:srgbClr val="EFEA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ross-9A9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84064"/>
            <a:ext cx="182880" cy="1828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42416" y="4846320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474"/>
                </a:solidFill>
                <a:latin typeface="Aptos"/>
              </a:rPr>
              <a:t>Limited investment guidance</a:t>
            </a:r>
          </a:p>
        </p:txBody>
      </p:sp>
      <p:pic>
        <p:nvPicPr>
          <p:cNvPr id="39" name="Picture 38" descr="check-12B9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7" y="5084064"/>
            <a:ext cx="182880" cy="182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288536" y="4846320"/>
            <a:ext cx="26060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1526"/>
                </a:solidFill>
                <a:latin typeface="Aptos"/>
              </a:rPr>
              <a:t>Risk-matched SIP / MF nudges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9480" y="1737360"/>
            <a:ext cx="4370832" cy="3767328"/>
          </a:xfrm>
          <a:prstGeom prst="roundRect">
            <a:avLst>
              <a:gd name="adj" fmla="val 5825"/>
            </a:avLst>
          </a:prstGeom>
          <a:solidFill>
            <a:srgbClr val="17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0376" y="2048255"/>
            <a:ext cx="3749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40">
                <a:solidFill>
                  <a:srgbClr val="9B85FF"/>
                </a:solidFill>
                <a:latin typeface="Aptos"/>
              </a:rPr>
              <a:t>THE MATH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0376" y="2523744"/>
            <a:ext cx="3749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₹499</a:t>
            </a:r>
            <a:r>
              <a:rPr sz="1300" b="0" i="0">
                <a:solidFill>
                  <a:srgbClr val="9A94B8"/>
                </a:solidFill>
                <a:latin typeface="Aptos"/>
              </a:rPr>
              <a:t>/month</a:t>
            </a:r>
            <a:r>
              <a:rPr sz="1300" b="1" i="0">
                <a:solidFill>
                  <a:srgbClr val="C9C3E4"/>
                </a:solidFill>
                <a:latin typeface="Aptos"/>
              </a:rPr>
              <a:t>   ≈  ₹16/day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0376" y="3182112"/>
            <a:ext cx="3749040" cy="10972"/>
          </a:xfrm>
          <a:prstGeom prst="rect">
            <a:avLst/>
          </a:prstGeom>
          <a:solidFill>
            <a:srgbClr val="3A3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0376" y="3383280"/>
            <a:ext cx="3749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C9C3E4"/>
                </a:solidFill>
                <a:latin typeface="Aptos"/>
              </a:rPr>
              <a:t>If it helps him save 5% of a ₹60,000 salary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0376" y="3968496"/>
            <a:ext cx="3749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2B981"/>
                </a:solidFill>
                <a:latin typeface="Aptos"/>
              </a:rPr>
              <a:t>₹3,000</a:t>
            </a:r>
            <a:r>
              <a:rPr sz="1300" b="0" i="0">
                <a:solidFill>
                  <a:srgbClr val="C9C3E4"/>
                </a:solidFill>
                <a:latin typeface="Aptos"/>
              </a:rPr>
              <a:t> back, every month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0376" y="4498848"/>
            <a:ext cx="3749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Six times what it costs him.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0376" y="5047488"/>
            <a:ext cx="3749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94B8"/>
                </a:solidFill>
                <a:latin typeface="Aptos"/>
              </a:rPr>
              <a:t>Illustration, not a guarantee.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870448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474"/>
                </a:solidFill>
                <a:latin typeface="Aptos"/>
              </a:rPr>
              <a:t>Free apps are ad-supported: they earn when he scrolls. We only earn when he renews.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60">
                <a:solidFill>
                  <a:srgbClr val="6C4CF1"/>
                </a:solidFill>
                <a:latin typeface="Aptos"/>
              </a:rPr>
              <a:t>PITCHER 3  ·  THE CLOSE</a:t>
            </a:r>
          </a:p>
        </p:txBody>
      </p:sp>
      <p:pic>
        <p:nvPicPr>
          <p:cNvPr id="4" name="Picture 3" descr="paisawis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431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1323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71526"/>
                </a:solidFill>
                <a:latin typeface="Aptos"/>
              </a:rPr>
              <a:t>Who we sell to, and how we reach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53312"/>
            <a:ext cx="5396331" cy="2670048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54480"/>
            <a:ext cx="47745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6C4CF1"/>
                </a:solidFill>
                <a:latin typeface="Aptos"/>
              </a:rPr>
              <a:t>THE IDEAL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01952"/>
            <a:ext cx="47745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Stable, predictable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95144"/>
            <a:ext cx="47745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Multiple bank + UPI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88336"/>
            <a:ext cx="47745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Actively wants to save or invest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081528"/>
            <a:ext cx="47745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Lacks personalized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474720"/>
            <a:ext cx="47745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6C4CF1"/>
                </a:solidFill>
                <a:latin typeface="Aptos"/>
              </a:rPr>
              <a:t>•  </a:t>
            </a:r>
            <a:r>
              <a:rPr sz="1150" b="0" i="0">
                <a:solidFill>
                  <a:srgbClr val="5A5474"/>
                </a:solidFill>
                <a:latin typeface="Aptos"/>
              </a:rPr>
              <a:t>Willing to pay for expert help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6723" y="1353312"/>
            <a:ext cx="5396331" cy="2670048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7619" y="1554480"/>
            <a:ext cx="47745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6C4CF1"/>
                </a:solidFill>
                <a:latin typeface="Aptos"/>
              </a:rPr>
              <a:t>WHERE WE FIND THEM</a:t>
            </a:r>
          </a:p>
        </p:txBody>
      </p:sp>
      <p:pic>
        <p:nvPicPr>
          <p:cNvPr id="15" name="Picture 14" descr="bank-6C4C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7" y="1984248"/>
            <a:ext cx="214884" cy="2148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78243" y="1901952"/>
            <a:ext cx="4353915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A5474"/>
                </a:solidFill>
                <a:latin typeface="Aptos"/>
              </a:rPr>
              <a:t>Bank relationship managers</a:t>
            </a:r>
          </a:p>
        </p:txBody>
      </p:sp>
      <p:pic>
        <p:nvPicPr>
          <p:cNvPr id="17" name="Picture 16" descr="briefcase-6C4C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907" y="2377440"/>
            <a:ext cx="214884" cy="2148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78243" y="2295144"/>
            <a:ext cx="4353915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A5474"/>
                </a:solidFill>
                <a:latin typeface="Aptos"/>
              </a:rPr>
              <a:t>Bank &amp; corporate partnerships</a:t>
            </a:r>
          </a:p>
        </p:txBody>
      </p:sp>
      <p:pic>
        <p:nvPicPr>
          <p:cNvPr id="19" name="Picture 18" descr="store-6C4C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907" y="2770632"/>
            <a:ext cx="214884" cy="2148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78243" y="2688336"/>
            <a:ext cx="4353915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A5474"/>
                </a:solidFill>
                <a:latin typeface="Aptos"/>
              </a:rPr>
              <a:t>Branch walk-ins</a:t>
            </a:r>
          </a:p>
        </p:txBody>
      </p:sp>
      <p:pic>
        <p:nvPicPr>
          <p:cNvPr id="21" name="Picture 20" descr="linkedin-6C4C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907" y="3163824"/>
            <a:ext cx="214884" cy="2148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78243" y="3081528"/>
            <a:ext cx="4353915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A5474"/>
                </a:solidFill>
                <a:latin typeface="Aptos"/>
              </a:rPr>
              <a:t>LinkedIn: working professionals</a:t>
            </a:r>
          </a:p>
        </p:txBody>
      </p:sp>
      <p:pic>
        <p:nvPicPr>
          <p:cNvPr id="23" name="Picture 22" descr="users-6C4C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907" y="3557015"/>
            <a:ext cx="214884" cy="2148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78243" y="3474720"/>
            <a:ext cx="4353915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A5474"/>
                </a:solidFill>
                <a:latin typeface="Aptos"/>
              </a:rPr>
              <a:t>Referrals from existing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24528"/>
            <a:ext cx="11094415" cy="822960"/>
          </a:xfrm>
          <a:prstGeom prst="roundRect">
            <a:avLst>
              <a:gd name="adj" fmla="val 26666"/>
            </a:avLst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2452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₹499</a:t>
            </a:r>
            <a:r>
              <a:rPr sz="1300" b="0" i="0">
                <a:solidFill>
                  <a:srgbClr val="EFEAFF"/>
                </a:solidFill>
                <a:latin typeface="Aptos"/>
              </a:rPr>
              <a:t>/month</a:t>
            </a:r>
            <a:r>
              <a:rPr sz="1900" b="1" i="0">
                <a:solidFill>
                  <a:srgbClr val="FFFFFF"/>
                </a:solidFill>
                <a:latin typeface="Aptos"/>
              </a:rPr>
              <a:t>     ₹4,999</a:t>
            </a:r>
            <a:r>
              <a:rPr sz="1300" b="0" i="0">
                <a:solidFill>
                  <a:srgbClr val="EFEAFF"/>
                </a:solidFill>
                <a:latin typeface="Aptos"/>
              </a:rPr>
              <a:t>/year</a:t>
            </a:r>
            <a:r>
              <a:rPr sz="1300" b="1" i="0">
                <a:solidFill>
                  <a:srgbClr val="EFEAFF"/>
                </a:solidFill>
                <a:latin typeface="Aptos"/>
              </a:rPr>
              <a:t>     ≈ ₹16/day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4224528"/>
            <a:ext cx="540684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  <a:latin typeface="Aptos"/>
              </a:rPr>
              <a:t>₹999 onboarding fee waived for bank customers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85232"/>
            <a:ext cx="11094415" cy="1042415"/>
          </a:xfrm>
          <a:prstGeom prst="roundRect">
            <a:avLst>
              <a:gd name="adj" fmla="val 21052"/>
            </a:avLst>
          </a:prstGeom>
          <a:solidFill>
            <a:srgbClr val="17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468112"/>
            <a:ext cx="54864" cy="676656"/>
          </a:xfrm>
          <a:prstGeom prst="rect">
            <a:avLst/>
          </a:prstGeom>
          <a:solidFill>
            <a:srgbClr val="9B8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449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40">
                <a:solidFill>
                  <a:srgbClr val="9B85FF"/>
                </a:solidFill>
                <a:latin typeface="Aptos"/>
              </a:rPr>
              <a:t>THE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724144"/>
            <a:ext cx="103628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1">
                <a:solidFill>
                  <a:srgbClr val="FFFFFF"/>
                </a:solidFill>
                <a:latin typeface="Aptos"/>
              </a:rPr>
              <a:t>“You came in through your relationship manager, so the ₹999 onboarding fee is waived. Shall we book your first advisor call this week?”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